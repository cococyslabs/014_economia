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Gadugi" panose="020B0502040204020203" pitchFamily="34" charset="0"/>
      <p:regular r:id="rId15"/>
      <p:bold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O+iGp+9oNSRALVTRh146cAaxH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9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75b4d7ed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g3d75b4d7ed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75b4d7ed6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g3d75b4d7ed6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75b4d7ed6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g3d75b4d7ed6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75b4d7ed6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g3d75b4d7ed6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75b4d7ed6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g3d75b4d7ed6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heelofnames.com/e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avLst/>
            <a:gdLst/>
            <a:ahLst/>
            <a:cxnLst/>
            <a:rect l="l" t="t" r="r" b="b"/>
            <a:pathLst>
              <a:path w="9002016" h="1811656" extrusionOk="0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aphicFrame>
        <p:nvGraphicFramePr>
          <p:cNvPr id="86" name="Google Shape;86;p1"/>
          <p:cNvGraphicFramePr/>
          <p:nvPr>
            <p:extLst>
              <p:ext uri="{D42A27DB-BD31-4B8C-83A1-F6EECF244321}">
                <p14:modId xmlns:p14="http://schemas.microsoft.com/office/powerpoint/2010/main" val="2787286074"/>
              </p:ext>
            </p:extLst>
          </p:nvPr>
        </p:nvGraphicFramePr>
        <p:xfrm>
          <a:off x="10669588" y="1766888"/>
          <a:ext cx="10915650" cy="475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0915545" imgH="4753139" progId="Excel.Sheet.12">
                  <p:embed/>
                </p:oleObj>
              </mc:Choice>
              <mc:Fallback>
                <p:oleObj name="Worksheet" r:id="rId5" imgW="10915545" imgH="4753139" progId="Excel.Sheet.12">
                  <p:embed/>
                  <p:pic>
                    <p:nvPicPr>
                      <p:cNvPr id="86" name="Google Shape;86;p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10669588" y="1766888"/>
                        <a:ext cx="10915650" cy="475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Ciencias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86425" y="9101475"/>
            <a:ext cx="4067111" cy="2029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lang="es-MX" sz="314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Kevin Estuardo Sotoj García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endParaRPr sz="314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s-MX" sz="42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Economía A+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27878"/>
            <a:ext cx="18288000" cy="10401300"/>
          </a:xfrm>
          <a:custGeom>
            <a:avLst/>
            <a:gdLst/>
            <a:ahLst/>
            <a:cxnLst/>
            <a:rect l="l" t="t" r="r" b="b"/>
            <a:pathLst>
              <a:path w="18288000" h="10401300" extrusionOk="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5" name="Google Shape;95;p2"/>
          <p:cNvSpPr txBox="1"/>
          <p:nvPr/>
        </p:nvSpPr>
        <p:spPr>
          <a:xfrm>
            <a:off x="3102001" y="2985175"/>
            <a:ext cx="12084000" cy="3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8799" b="1"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 sz="8799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4000075" y="2756063"/>
            <a:ext cx="9896507" cy="7627980"/>
          </a:xfrm>
          <a:custGeom>
            <a:avLst/>
            <a:gdLst/>
            <a:ahLst/>
            <a:cxnLst/>
            <a:rect l="l" t="t" r="r" b="b"/>
            <a:pathLst>
              <a:path w="9896507" h="5913163" extrusionOk="0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1" name="Google Shape;101;p4"/>
          <p:cNvSpPr/>
          <p:nvPr/>
        </p:nvSpPr>
        <p:spPr>
          <a:xfrm>
            <a:off x="3493371" y="-730682"/>
            <a:ext cx="11301259" cy="5127946"/>
          </a:xfrm>
          <a:custGeom>
            <a:avLst/>
            <a:gdLst/>
            <a:ahLst/>
            <a:cxnLst/>
            <a:rect l="l" t="t" r="r" b="b"/>
            <a:pathLst>
              <a:path w="11301259" h="5127946" extrusionOk="0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2" name="Google Shape;102;p4"/>
          <p:cNvSpPr/>
          <p:nvPr/>
        </p:nvSpPr>
        <p:spPr>
          <a:xfrm>
            <a:off x="4875920" y="3204230"/>
            <a:ext cx="678185" cy="824819"/>
          </a:xfrm>
          <a:custGeom>
            <a:avLst/>
            <a:gdLst/>
            <a:ahLst/>
            <a:cxnLst/>
            <a:rect l="l" t="t" r="r" b="b"/>
            <a:pathLst>
              <a:path w="678185" h="824819" extrusionOk="0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3" name="Google Shape;103;p4"/>
          <p:cNvSpPr txBox="1"/>
          <p:nvPr/>
        </p:nvSpPr>
        <p:spPr>
          <a:xfrm>
            <a:off x="5720910" y="3500263"/>
            <a:ext cx="488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sz="24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75920" y="4232850"/>
            <a:ext cx="678185" cy="824819"/>
          </a:xfrm>
          <a:custGeom>
            <a:avLst/>
            <a:gdLst/>
            <a:ahLst/>
            <a:cxnLst/>
            <a:rect l="l" t="t" r="r" b="b"/>
            <a:pathLst>
              <a:path w="678185" h="824819" extrusionOk="0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5" name="Google Shape;105;p4"/>
          <p:cNvSpPr txBox="1"/>
          <p:nvPr/>
        </p:nvSpPr>
        <p:spPr>
          <a:xfrm>
            <a:off x="5695422" y="4589013"/>
            <a:ext cx="706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sz="24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24745" y="5310921"/>
            <a:ext cx="678185" cy="824819"/>
          </a:xfrm>
          <a:custGeom>
            <a:avLst/>
            <a:gdLst/>
            <a:ahLst/>
            <a:cxnLst/>
            <a:rect l="l" t="t" r="r" b="b"/>
            <a:pathLst>
              <a:path w="678185" h="824819" extrusionOk="0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7" name="Google Shape;107;p4"/>
          <p:cNvSpPr/>
          <p:nvPr/>
        </p:nvSpPr>
        <p:spPr>
          <a:xfrm>
            <a:off x="4824745" y="6413615"/>
            <a:ext cx="678185" cy="824819"/>
          </a:xfrm>
          <a:custGeom>
            <a:avLst/>
            <a:gdLst/>
            <a:ahLst/>
            <a:cxnLst/>
            <a:rect l="l" t="t" r="r" b="b"/>
            <a:pathLst>
              <a:path w="678185" h="824819" extrusionOk="0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8" name="Google Shape;108;p4"/>
          <p:cNvSpPr/>
          <p:nvPr/>
        </p:nvSpPr>
        <p:spPr>
          <a:xfrm>
            <a:off x="4824745" y="7516297"/>
            <a:ext cx="678185" cy="824819"/>
          </a:xfrm>
          <a:custGeom>
            <a:avLst/>
            <a:gdLst/>
            <a:ahLst/>
            <a:cxnLst/>
            <a:rect l="l" t="t" r="r" b="b"/>
            <a:pathLst>
              <a:path w="678185" h="824819" extrusionOk="0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9" name="Google Shape;109;p4"/>
          <p:cNvSpPr txBox="1"/>
          <p:nvPr/>
        </p:nvSpPr>
        <p:spPr>
          <a:xfrm>
            <a:off x="5720893" y="5677738"/>
            <a:ext cx="792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Open Sans"/>
                <a:ea typeface="Open Sans"/>
                <a:cs typeface="Open Sans"/>
                <a:sym typeface="Open Sans"/>
              </a:rPr>
              <a:t>3. Presentación de los Estudiantes                                </a:t>
            </a:r>
            <a:endParaRPr sz="24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5682599" y="6710914"/>
            <a:ext cx="59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Open Sans"/>
                <a:ea typeface="Open Sans"/>
                <a:cs typeface="Open Sans"/>
                <a:sym typeface="Open Sans"/>
              </a:rPr>
              <a:t>4.  Senso de Horarios de Calificación                          </a:t>
            </a:r>
            <a:endParaRPr sz="24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720892" y="7744063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Open Sans"/>
                <a:ea typeface="Open Sans"/>
                <a:cs typeface="Open Sans"/>
                <a:sym typeface="Open Sans"/>
              </a:rPr>
              <a:t>5. Programa del Curso                 					</a:t>
            </a:r>
            <a:endParaRPr sz="24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5307667" y="8717000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sz="24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4618192" y="9689925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Open Sans"/>
                <a:ea typeface="Open Sans"/>
                <a:cs typeface="Open Sans"/>
                <a:sym typeface="Open Sans"/>
              </a:rPr>
              <a:t>7. Tarea de fortalecimiento académico                                 </a:t>
            </a:r>
            <a:endParaRPr sz="24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24745" y="8444722"/>
            <a:ext cx="678185" cy="824819"/>
          </a:xfrm>
          <a:custGeom>
            <a:avLst/>
            <a:gdLst/>
            <a:ahLst/>
            <a:cxnLst/>
            <a:rect l="l" t="t" r="r" b="b"/>
            <a:pathLst>
              <a:path w="678185" h="824819" extrusionOk="0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5" name="Google Shape;115;p4"/>
          <p:cNvSpPr/>
          <p:nvPr/>
        </p:nvSpPr>
        <p:spPr>
          <a:xfrm>
            <a:off x="4875920" y="9462172"/>
            <a:ext cx="678185" cy="824819"/>
          </a:xfrm>
          <a:custGeom>
            <a:avLst/>
            <a:gdLst/>
            <a:ahLst/>
            <a:cxnLst/>
            <a:rect l="l" t="t" r="r" b="b"/>
            <a:pathLst>
              <a:path w="678185" h="824819" extrusionOk="0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489650" y="7311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sz="5600" b="1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endParaRPr sz="5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1407021" y="2665080"/>
            <a:ext cx="6792300" cy="3619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MX" sz="2400" b="1" dirty="0">
                <a:latin typeface="Open Sans"/>
                <a:ea typeface="Open Sans"/>
                <a:cs typeface="Open Sans"/>
                <a:sym typeface="Open Sans"/>
              </a:rPr>
              <a:t>Nombre: </a:t>
            </a:r>
            <a:r>
              <a:rPr lang="es-MX" sz="2400" dirty="0">
                <a:latin typeface="Open Sans"/>
                <a:ea typeface="Open Sans"/>
                <a:cs typeface="Open Sans"/>
                <a:sym typeface="Open Sans"/>
              </a:rPr>
              <a:t>Kevin Estuardo Sotoj García</a:t>
            </a:r>
          </a:p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s-MX" sz="2400"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MX" sz="2400" b="1" dirty="0">
                <a:latin typeface="Open Sans"/>
                <a:ea typeface="Open Sans"/>
                <a:cs typeface="Open Sans"/>
                <a:sym typeface="Open Sans"/>
              </a:rPr>
              <a:t>Semestre: </a:t>
            </a:r>
            <a:r>
              <a:rPr lang="es-MX" sz="2400" dirty="0">
                <a:latin typeface="Open Sans"/>
                <a:ea typeface="Open Sans"/>
                <a:cs typeface="Open Sans"/>
                <a:sym typeface="Open Sans"/>
              </a:rPr>
              <a:t>10mo</a:t>
            </a:r>
          </a:p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MX" sz="240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2400"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MX" sz="2400" dirty="0">
                <a:latin typeface="Open Sans"/>
                <a:ea typeface="Open Sans"/>
                <a:cs typeface="Open Sans"/>
                <a:sym typeface="Open Sans"/>
              </a:rPr>
              <a:t>Segundo semestre siendo auxiliar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AutoNum type="arabicPeriod"/>
            </a:pPr>
            <a:endParaRPr sz="2400"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/>
        </p:nvSpPr>
        <p:spPr>
          <a:xfrm>
            <a:off x="2042550" y="1118800"/>
            <a:ext cx="142029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sz="56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Google Shape;179;g3d75b4d7ed6_1_10">
            <a:extLst>
              <a:ext uri="{FF2B5EF4-FFF2-40B4-BE49-F238E27FC236}">
                <a16:creationId xmlns:a16="http://schemas.microsoft.com/office/drawing/2014/main" id="{793B3F91-51ED-D9D4-5C19-9B39602C39DE}"/>
              </a:ext>
            </a:extLst>
          </p:cNvPr>
          <p:cNvSpPr txBox="1"/>
          <p:nvPr/>
        </p:nvSpPr>
        <p:spPr>
          <a:xfrm>
            <a:off x="2558775" y="4214069"/>
            <a:ext cx="13686675" cy="30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958"/>
              </a:lnSpc>
              <a:buSzPts val="2400"/>
            </a:pPr>
            <a:r>
              <a:rPr lang="es-MX" sz="4000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Actividad realizada en </a:t>
            </a:r>
            <a:r>
              <a:rPr lang="es-MX" sz="4000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Kahoot</a:t>
            </a:r>
            <a:br>
              <a:rPr lang="es-MX" sz="4000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s-MX" sz="4000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4000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Link de banco de </a:t>
            </a:r>
            <a:r>
              <a:rPr lang="es-MX" sz="4000" dirty="0">
                <a:latin typeface="Open Sans"/>
                <a:ea typeface="Open Sans"/>
                <a:cs typeface="Open Sans"/>
                <a:sym typeface="Open Sans"/>
              </a:rPr>
              <a:t>preguntas:</a:t>
            </a:r>
            <a:br>
              <a:rPr lang="es-MX" sz="40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2000" dirty="0">
                <a:latin typeface="Open Sans"/>
                <a:ea typeface="Open Sans"/>
                <a:cs typeface="Open Sans"/>
                <a:sym typeface="Open Sans"/>
              </a:rPr>
              <a:t>https://docs.google.com/document/d/1LJuaPtyn6fR1q3gSmmdj1jvsKL5RuF4U-duO61jXJ88/edit?usp=sharing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75b4d7ed6_0_12"/>
          <p:cNvSpPr txBox="1"/>
          <p:nvPr/>
        </p:nvSpPr>
        <p:spPr>
          <a:xfrm>
            <a:off x="489650" y="596275"/>
            <a:ext cx="17588400" cy="2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>
                <a:latin typeface="Open Sans"/>
                <a:ea typeface="Open Sans"/>
                <a:cs typeface="Open Sans"/>
                <a:sym typeface="Open Sans"/>
              </a:rPr>
              <a:t>3. Presentación de los Estudiantes </a:t>
            </a:r>
            <a:endParaRPr sz="5600" b="1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endParaRPr sz="5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g3d75b4d7ed6_0_12"/>
          <p:cNvSpPr txBox="1"/>
          <p:nvPr/>
        </p:nvSpPr>
        <p:spPr>
          <a:xfrm>
            <a:off x="1407021" y="2522705"/>
            <a:ext cx="6792300" cy="19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Presentación de 5 </a:t>
            </a:r>
            <a:r>
              <a:rPr lang="en-US" sz="2400" b="1" dirty="0" err="1">
                <a:latin typeface="Open Sans"/>
                <a:ea typeface="Open Sans"/>
                <a:cs typeface="Open Sans"/>
                <a:sym typeface="Open Sans"/>
              </a:rPr>
              <a:t>estudiantes</a:t>
            </a:r>
            <a:endParaRPr sz="2400"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AutoNum type="arabicPeriod"/>
            </a:pPr>
            <a:endParaRPr sz="2400"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179;g3d75b4d7ed6_1_10">
            <a:extLst>
              <a:ext uri="{FF2B5EF4-FFF2-40B4-BE49-F238E27FC236}">
                <a16:creationId xmlns:a16="http://schemas.microsoft.com/office/drawing/2014/main" id="{093B2954-E98C-3AFC-C5A9-F9C72342332C}"/>
              </a:ext>
            </a:extLst>
          </p:cNvPr>
          <p:cNvSpPr txBox="1"/>
          <p:nvPr/>
        </p:nvSpPr>
        <p:spPr>
          <a:xfrm>
            <a:off x="2558775" y="4214069"/>
            <a:ext cx="13686675" cy="241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958"/>
              </a:lnSpc>
              <a:buSzPts val="2400"/>
            </a:pPr>
            <a:r>
              <a:rPr lang="es-MX" sz="4000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Actividad realizada en </a:t>
            </a:r>
            <a:r>
              <a:rPr lang="es-MX" sz="4000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Wheelofnames</a:t>
            </a:r>
            <a:br>
              <a:rPr lang="es-MX" sz="4000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s-MX" sz="40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es-GT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http://wheelofnames.com/es</a:t>
            </a:r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75b4d7ed6_0_21"/>
          <p:cNvSpPr txBox="1"/>
          <p:nvPr/>
        </p:nvSpPr>
        <p:spPr>
          <a:xfrm>
            <a:off x="489650" y="596275"/>
            <a:ext cx="16070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>
                <a:latin typeface="Open Sans"/>
                <a:ea typeface="Open Sans"/>
                <a:cs typeface="Open Sans"/>
                <a:sym typeface="Open Sans"/>
              </a:rPr>
              <a:t>4.  Senso de Horarios de Calificación                          </a:t>
            </a:r>
            <a:endParaRPr sz="5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g3d75b4d7ed6_0_21"/>
          <p:cNvSpPr txBox="1"/>
          <p:nvPr/>
        </p:nvSpPr>
        <p:spPr>
          <a:xfrm>
            <a:off x="1407021" y="2522705"/>
            <a:ext cx="679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Open Sans"/>
                <a:ea typeface="Open Sans"/>
                <a:cs typeface="Open Sans"/>
                <a:sym typeface="Open Sans"/>
              </a:rPr>
              <a:t>Horarios tentativos de calificación.</a:t>
            </a:r>
            <a:endParaRPr sz="24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1810A3B5-BD30-2B1E-D1B7-8DF889462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410982"/>
              </p:ext>
            </p:extLst>
          </p:nvPr>
        </p:nvGraphicFramePr>
        <p:xfrm>
          <a:off x="4647156" y="3822700"/>
          <a:ext cx="8993688" cy="358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6844">
                  <a:extLst>
                    <a:ext uri="{9D8B030D-6E8A-4147-A177-3AD203B41FA5}">
                      <a16:colId xmlns:a16="http://schemas.microsoft.com/office/drawing/2014/main" val="570167887"/>
                    </a:ext>
                  </a:extLst>
                </a:gridCol>
                <a:gridCol w="4496844">
                  <a:extLst>
                    <a:ext uri="{9D8B030D-6E8A-4147-A177-3AD203B41FA5}">
                      <a16:colId xmlns:a16="http://schemas.microsoft.com/office/drawing/2014/main" val="291705785"/>
                    </a:ext>
                  </a:extLst>
                </a:gridCol>
              </a:tblGrid>
              <a:tr h="896585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MX" b="1" dirty="0"/>
                        <a:t>Días</a:t>
                      </a:r>
                      <a:endParaRPr lang="es-GT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MX" b="1" dirty="0"/>
                        <a:t>Horarios </a:t>
                      </a:r>
                      <a:endParaRPr lang="es-GT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49962"/>
                  </a:ext>
                </a:extLst>
              </a:tr>
              <a:tr h="896585"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</a:pPr>
                      <a:r>
                        <a:rPr lang="es-MX" dirty="0"/>
                        <a:t>Sábado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</a:pPr>
                      <a:r>
                        <a:rPr lang="es-MX" dirty="0"/>
                        <a:t>3:00 pm a 8:00 pm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043787"/>
                  </a:ext>
                </a:extLst>
              </a:tr>
              <a:tr h="896585"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</a:pPr>
                      <a:r>
                        <a:rPr lang="es-MX" dirty="0"/>
                        <a:t>Domingo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</a:pPr>
                      <a:r>
                        <a:rPr lang="es-MX" dirty="0"/>
                        <a:t>8:00 am a 12:00 pm – 15:00 a 19:00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267046"/>
                  </a:ext>
                </a:extLst>
              </a:tr>
              <a:tr h="896585"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</a:pPr>
                      <a:r>
                        <a:rPr lang="es-MX" dirty="0"/>
                        <a:t>Lunes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8:00 am a 12:00 pm – 15:00 a 19:00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4721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75b4d7ed6_0_30"/>
          <p:cNvSpPr txBox="1"/>
          <p:nvPr/>
        </p:nvSpPr>
        <p:spPr>
          <a:xfrm>
            <a:off x="489650" y="5962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>
                <a:latin typeface="Open Sans"/>
                <a:ea typeface="Open Sans"/>
                <a:cs typeface="Open Sans"/>
                <a:sym typeface="Open Sans"/>
              </a:rPr>
              <a:t>5. Programa del Curso </a:t>
            </a:r>
            <a:endParaRPr sz="5600" b="1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endParaRPr sz="5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g3d75b4d7ed6_0_30"/>
          <p:cNvSpPr txBox="1"/>
          <p:nvPr/>
        </p:nvSpPr>
        <p:spPr>
          <a:xfrm>
            <a:off x="5164250" y="3253740"/>
            <a:ext cx="679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Presentación del </a:t>
            </a:r>
            <a:r>
              <a:rPr lang="en-US" sz="2400" b="1" dirty="0" err="1">
                <a:latin typeface="Open Sans"/>
                <a:ea typeface="Open Sans"/>
                <a:cs typeface="Open Sans"/>
                <a:sym typeface="Open Sans"/>
              </a:rPr>
              <a:t>programa</a:t>
            </a: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 del </a:t>
            </a:r>
            <a:r>
              <a:rPr lang="en-US" sz="2400" b="1" dirty="0" err="1">
                <a:latin typeface="Open Sans"/>
                <a:ea typeface="Open Sans"/>
                <a:cs typeface="Open Sans"/>
                <a:sym typeface="Open Sans"/>
              </a:rPr>
              <a:t>curso</a:t>
            </a:r>
            <a:endParaRPr sz="24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" name="Imagen 2" descr="Una página en un planificador">
            <a:extLst>
              <a:ext uri="{FF2B5EF4-FFF2-40B4-BE49-F238E27FC236}">
                <a16:creationId xmlns:a16="http://schemas.microsoft.com/office/drawing/2014/main" id="{6AAAB019-9C92-F692-9782-BB24A9146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655" y="4884537"/>
            <a:ext cx="7044690" cy="4696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75b4d7ed6_0_39"/>
          <p:cNvSpPr txBox="1"/>
          <p:nvPr/>
        </p:nvSpPr>
        <p:spPr>
          <a:xfrm>
            <a:off x="3410550" y="969200"/>
            <a:ext cx="11466900" cy="20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5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sz="56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Google Shape;179;g3d75b4d7ed6_1_10">
            <a:extLst>
              <a:ext uri="{FF2B5EF4-FFF2-40B4-BE49-F238E27FC236}">
                <a16:creationId xmlns:a16="http://schemas.microsoft.com/office/drawing/2014/main" id="{7E7E319F-5DBB-3830-8917-8D693B127603}"/>
              </a:ext>
            </a:extLst>
          </p:cNvPr>
          <p:cNvSpPr txBox="1"/>
          <p:nvPr/>
        </p:nvSpPr>
        <p:spPr>
          <a:xfrm>
            <a:off x="2534280" y="4777740"/>
            <a:ext cx="13686675" cy="30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958"/>
              </a:lnSpc>
              <a:buSzPts val="2400"/>
            </a:pPr>
            <a:r>
              <a:rPr lang="es-MX" sz="4000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Actividad realizada en </a:t>
            </a:r>
            <a:r>
              <a:rPr lang="es-MX" sz="4000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Kahoot</a:t>
            </a:r>
            <a:endParaRPr lang="es-MX" sz="4000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 algn="ctr">
              <a:lnSpc>
                <a:spcPct val="139958"/>
              </a:lnSpc>
              <a:buSzPts val="2400"/>
            </a:pPr>
            <a:br>
              <a:rPr lang="es-MX" sz="4000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4000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Link de banco de </a:t>
            </a:r>
            <a:r>
              <a:rPr lang="es-MX" sz="4000" dirty="0">
                <a:latin typeface="Open Sans"/>
                <a:ea typeface="Open Sans"/>
                <a:cs typeface="Open Sans"/>
                <a:sym typeface="Open Sans"/>
              </a:rPr>
              <a:t>preguntas:</a:t>
            </a:r>
            <a:br>
              <a:rPr lang="es-MX" sz="40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2000" dirty="0">
                <a:latin typeface="Open Sans"/>
                <a:ea typeface="Open Sans"/>
                <a:cs typeface="Open Sans"/>
                <a:sym typeface="Open Sans"/>
              </a:rPr>
              <a:t>https://docs.google.com/document/d/1LJuaPtyn6fR1q3gSmmdj1jvsKL5RuF4U-duO61jXJ88/edit?usp=sharing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75b4d7ed6_1_10"/>
          <p:cNvSpPr txBox="1"/>
          <p:nvPr/>
        </p:nvSpPr>
        <p:spPr>
          <a:xfrm>
            <a:off x="489650" y="596275"/>
            <a:ext cx="18288000" cy="2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>
                <a:latin typeface="Open Sans"/>
                <a:ea typeface="Open Sans"/>
                <a:cs typeface="Open Sans"/>
                <a:sym typeface="Open Sans"/>
              </a:rPr>
              <a:t>7. Tarea de fortalecimiento académico </a:t>
            </a:r>
            <a:endParaRPr sz="5600" b="1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endParaRPr sz="5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g3d75b4d7ed6_1_10"/>
          <p:cNvSpPr txBox="1"/>
          <p:nvPr/>
        </p:nvSpPr>
        <p:spPr>
          <a:xfrm>
            <a:off x="2887848" y="2876273"/>
            <a:ext cx="1368667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MX" sz="4000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Investigación:</a:t>
            </a:r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MX" sz="4000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¿Cuál ha sido el motivo del porqué Guatemala no es un potencia economía?</a:t>
            </a:r>
            <a:endParaRPr sz="2400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" name="Imagen 2" descr="Ilustración de la población global">
            <a:extLst>
              <a:ext uri="{FF2B5EF4-FFF2-40B4-BE49-F238E27FC236}">
                <a16:creationId xmlns:a16="http://schemas.microsoft.com/office/drawing/2014/main" id="{2356ED24-C57C-FB84-57EA-95DA05A28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568" y="5704893"/>
            <a:ext cx="7087234" cy="39858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/>
          <p:nvPr/>
        </p:nvSpPr>
        <p:spPr>
          <a:xfrm>
            <a:off x="3861682" y="595298"/>
            <a:ext cx="10564636" cy="8663002"/>
          </a:xfrm>
          <a:custGeom>
            <a:avLst/>
            <a:gdLst/>
            <a:ahLst/>
            <a:cxnLst/>
            <a:rect l="l" t="t" r="r" b="b"/>
            <a:pathLst>
              <a:path w="10564636" h="8663002" extrusionOk="0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/>
          <p:nvPr/>
        </p:nvSpPr>
        <p:spPr>
          <a:xfrm>
            <a:off x="915620" y="118050"/>
            <a:ext cx="16659109" cy="10287000"/>
          </a:xfrm>
          <a:custGeom>
            <a:avLst/>
            <a:gdLst/>
            <a:ahLst/>
            <a:cxnLst/>
            <a:rect l="l" t="t" r="r" b="b"/>
            <a:pathLst>
              <a:path w="16659109" h="10287000" extrusionOk="0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258</Words>
  <Application>Microsoft Office PowerPoint</Application>
  <PresentationFormat>Personalizado</PresentationFormat>
  <Paragraphs>41</Paragraphs>
  <Slides>12</Slides>
  <Notes>12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Gadugi</vt:lpstr>
      <vt:lpstr>Arial</vt:lpstr>
      <vt:lpstr>Calibri</vt:lpstr>
      <vt:lpstr>Open Sans</vt:lpstr>
      <vt:lpstr>Office Theme</vt:lpstr>
      <vt:lpstr>Hoja de cálculo de Microsoft Excel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Kevin Sotoj</cp:lastModifiedBy>
  <cp:revision>2</cp:revision>
  <dcterms:created xsi:type="dcterms:W3CDTF">2006-08-16T00:00:00Z</dcterms:created>
  <dcterms:modified xsi:type="dcterms:W3CDTF">2026-05-07T21:53:08Z</dcterms:modified>
</cp:coreProperties>
</file>